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Nalajala" userId="23e97747b23c9952" providerId="LiveId" clId="{5CCDC6BA-44DC-4400-8357-365A3CFFE4A8}"/>
    <pc:docChg chg="modSld">
      <pc:chgData name="Sai Nalajala" userId="23e97747b23c9952" providerId="LiveId" clId="{5CCDC6BA-44DC-4400-8357-365A3CFFE4A8}" dt="2026-08-13T06:06:59.033" v="7" actId="207"/>
      <pc:docMkLst>
        <pc:docMk/>
      </pc:docMkLst>
      <pc:sldChg chg="modSp mod">
        <pc:chgData name="Sai Nalajala" userId="23e97747b23c9952" providerId="LiveId" clId="{5CCDC6BA-44DC-4400-8357-365A3CFFE4A8}" dt="2026-08-13T06:05:55.061" v="0" actId="207"/>
        <pc:sldMkLst>
          <pc:docMk/>
          <pc:sldMk cId="0" sldId="259"/>
        </pc:sldMkLst>
        <pc:spChg chg="mod">
          <ac:chgData name="Sai Nalajala" userId="23e97747b23c9952" providerId="LiveId" clId="{5CCDC6BA-44DC-4400-8357-365A3CFFE4A8}" dt="2026-08-13T06:05:55.061" v="0" actId="20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02.185" v="1" actId="207"/>
        <pc:sldMkLst>
          <pc:docMk/>
          <pc:sldMk cId="0" sldId="260"/>
        </pc:sldMkLst>
        <pc:spChg chg="mod">
          <ac:chgData name="Sai Nalajala" userId="23e97747b23c9952" providerId="LiveId" clId="{5CCDC6BA-44DC-4400-8357-365A3CFFE4A8}" dt="2026-08-13T06:06:02.185" v="1" actId="20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15.985" v="2" actId="207"/>
        <pc:sldMkLst>
          <pc:docMk/>
          <pc:sldMk cId="0" sldId="261"/>
        </pc:sldMkLst>
        <pc:spChg chg="mod">
          <ac:chgData name="Sai Nalajala" userId="23e97747b23c9952" providerId="LiveId" clId="{5CCDC6BA-44DC-4400-8357-365A3CFFE4A8}" dt="2026-08-13T06:06:15.985" v="2" actId="20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25.670" v="3" actId="207"/>
        <pc:sldMkLst>
          <pc:docMk/>
          <pc:sldMk cId="0" sldId="262"/>
        </pc:sldMkLst>
        <pc:spChg chg="mod">
          <ac:chgData name="Sai Nalajala" userId="23e97747b23c9952" providerId="LiveId" clId="{5CCDC6BA-44DC-4400-8357-365A3CFFE4A8}" dt="2026-08-13T06:06:25.670" v="3" actId="20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35.064" v="4" actId="207"/>
        <pc:sldMkLst>
          <pc:docMk/>
          <pc:sldMk cId="0" sldId="263"/>
        </pc:sldMkLst>
        <pc:spChg chg="mod">
          <ac:chgData name="Sai Nalajala" userId="23e97747b23c9952" providerId="LiveId" clId="{5CCDC6BA-44DC-4400-8357-365A3CFFE4A8}" dt="2026-08-13T06:06:35.064" v="4" actId="20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42.047" v="5" actId="207"/>
        <pc:sldMkLst>
          <pc:docMk/>
          <pc:sldMk cId="0" sldId="264"/>
        </pc:sldMkLst>
        <pc:spChg chg="mod">
          <ac:chgData name="Sai Nalajala" userId="23e97747b23c9952" providerId="LiveId" clId="{5CCDC6BA-44DC-4400-8357-365A3CFFE4A8}" dt="2026-08-13T06:06:42.047" v="5" actId="20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49.823" v="6" actId="207"/>
        <pc:sldMkLst>
          <pc:docMk/>
          <pc:sldMk cId="0" sldId="265"/>
        </pc:sldMkLst>
        <pc:spChg chg="mod">
          <ac:chgData name="Sai Nalajala" userId="23e97747b23c9952" providerId="LiveId" clId="{5CCDC6BA-44DC-4400-8357-365A3CFFE4A8}" dt="2026-08-13T06:06:49.823" v="6" actId="20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Sai Nalajala" userId="23e97747b23c9952" providerId="LiveId" clId="{5CCDC6BA-44DC-4400-8357-365A3CFFE4A8}" dt="2026-08-13T06:06:59.033" v="7" actId="207"/>
        <pc:sldMkLst>
          <pc:docMk/>
          <pc:sldMk cId="0" sldId="267"/>
        </pc:sldMkLst>
        <pc:spChg chg="mod">
          <ac:chgData name="Sai Nalajala" userId="23e97747b23c9952" providerId="LiveId" clId="{5CCDC6BA-44DC-4400-8357-365A3CFFE4A8}" dt="2026-08-13T06:06:59.033" v="7" actId="207"/>
          <ac:spMkLst>
            <pc:docMk/>
            <pc:sldMk cId="0" sldId="26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594360"/>
            <a:ext cx="3810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u="sng" dirty="0">
                <a:solidFill>
                  <a:srgbClr val="F97316"/>
                </a:solidFill>
                <a:latin typeface="Times New Roman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1208" y="173773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 err="1">
                <a:solidFill>
                  <a:srgbClr val="FFFFFF"/>
                </a:solidFill>
                <a:latin typeface="Times New Roman"/>
              </a:rPr>
              <a:t>MegaVault</a:t>
            </a:r>
            <a:endParaRPr sz="42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627" y="2445389"/>
            <a:ext cx="6675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F8FAFC"/>
                </a:solidFill>
                <a:latin typeface="Times New Roman"/>
              </a:rPr>
              <a:t>AI Powered </a:t>
            </a:r>
            <a:r>
              <a:rPr sz="2000" b="1" dirty="0">
                <a:solidFill>
                  <a:srgbClr val="F8FAFC"/>
                </a:solidFill>
                <a:latin typeface="Times New Roman"/>
              </a:rPr>
              <a:t>E-Commerce Shopping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627" y="3033778"/>
            <a:ext cx="64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B4BECF"/>
                </a:solidFill>
                <a:latin typeface="Times New Roman"/>
              </a:rPr>
              <a:t>A full-stack </a:t>
            </a:r>
            <a:r>
              <a:rPr lang="en-IN" sz="1600" b="0" dirty="0">
                <a:solidFill>
                  <a:srgbClr val="B4BECF"/>
                </a:solidFill>
                <a:latin typeface="Times New Roman"/>
              </a:rPr>
              <a:t>ai powered </a:t>
            </a:r>
            <a:r>
              <a:rPr sz="1600" b="0" dirty="0">
                <a:solidFill>
                  <a:srgbClr val="B4BECF"/>
                </a:solidFill>
                <a:latin typeface="Times New Roman"/>
              </a:rPr>
              <a:t>e-commerce application focused on seamless shopping,</a:t>
            </a:r>
            <a:r>
              <a:rPr lang="en-IN" sz="1600" b="0" dirty="0">
                <a:solidFill>
                  <a:srgbClr val="B4BECF"/>
                </a:solidFill>
                <a:latin typeface="Times New Roman"/>
              </a:rPr>
              <a:t> </a:t>
            </a:r>
            <a:r>
              <a:rPr sz="1600" b="0" dirty="0">
                <a:solidFill>
                  <a:srgbClr val="B4BECF"/>
                </a:solidFill>
                <a:latin typeface="Times New Roman"/>
              </a:rPr>
              <a:t>smart product discovery, secure access and efficient administration.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627" y="3864775"/>
            <a:ext cx="7132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F59E0B"/>
                </a:solidFill>
                <a:latin typeface="Times New Roman"/>
              </a:rPr>
              <a:t>React.js  •  Spring Boot  •  Java  •  MySQL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607940"/>
            <a:ext cx="3200400" cy="1897626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497289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7316"/>
                </a:solidFill>
                <a:latin typeface="Times New Roman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280675"/>
            <a:ext cx="2560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N. Sai Teja </a:t>
            </a:r>
          </a:p>
          <a:p>
            <a:pPr algn="l"/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B. Harsha </a:t>
            </a:r>
            <a:r>
              <a:rPr lang="en-IN" sz="1500" b="1" dirty="0" err="1">
                <a:solidFill>
                  <a:srgbClr val="FFFFFF"/>
                </a:solidFill>
                <a:latin typeface="Times New Roman"/>
              </a:rPr>
              <a:t>vardhan</a:t>
            </a:r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Babu</a:t>
            </a:r>
            <a:br>
              <a:rPr lang="en-IN" sz="1500" b="1" dirty="0">
                <a:solidFill>
                  <a:srgbClr val="FFFFFF"/>
                </a:solidFill>
                <a:latin typeface="Times New Roman"/>
              </a:rPr>
            </a:br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J. Bhargava Aditya</a:t>
            </a:r>
            <a:br>
              <a:rPr lang="en-IN" sz="1500" b="1" dirty="0">
                <a:solidFill>
                  <a:srgbClr val="FFFFFF"/>
                </a:solidFill>
                <a:latin typeface="Times New Roman"/>
              </a:rPr>
            </a:br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CH. </a:t>
            </a:r>
            <a:r>
              <a:rPr lang="en-IN" sz="1500" b="1" dirty="0" err="1">
                <a:solidFill>
                  <a:srgbClr val="FFFFFF"/>
                </a:solidFill>
                <a:latin typeface="Times New Roman"/>
              </a:rPr>
              <a:t>Tejas</a:t>
            </a:r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Kumar</a:t>
            </a:r>
            <a:endParaRPr sz="15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264753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4061" y="515205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01 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chemeClr val="bg1"/>
                </a:solidFill>
                <a:latin typeface="Times New Roman"/>
              </a:rPr>
              <a:t>MegaVault</a:t>
            </a:r>
            <a:r>
              <a:rPr sz="1600" b="0" dirty="0">
                <a:solidFill>
                  <a:schemeClr val="bg1"/>
                </a:solidFill>
                <a:latin typeface="Times New Roman"/>
              </a:rPr>
              <a:t> is designed as a modern digital shopping ecosystem for customers and administrators.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583680" cy="406908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159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97316"/>
                </a:solidFill>
                <a:latin typeface="Times New Roman"/>
              </a:rPr>
              <a:t>ABOUT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5760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Times New Roman"/>
              </a:rPr>
              <a:t>MegaVault</a:t>
            </a:r>
            <a:r>
              <a:rPr sz="1400" b="1" dirty="0">
                <a:solidFill>
                  <a:srgbClr val="FFFFFF"/>
                </a:solidFill>
                <a:latin typeface="Times New Roman"/>
              </a:rPr>
              <a:t> is a full-stack e-commerce platform that brings product discovery, shopping, authentication and administration into one integrated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72420"/>
            <a:ext cx="566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Times New Roman"/>
              </a:rPr>
              <a:t>The platform is built to provide a responsive customer experience while maintaining secure, role-based control over business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509551"/>
            <a:ext cx="2343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EA5E9"/>
                </a:solidFill>
                <a:latin typeface="Times New Roman"/>
              </a:rPr>
              <a:t>PRIMARY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109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Make online shopping faster, simpler, more secure and easier to manage.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3977639" cy="406908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14884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59E0B"/>
                </a:solidFill>
                <a:latin typeface="Times New Roman"/>
              </a:rPr>
              <a:t>CORE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97480"/>
            <a:ext cx="315468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Product discovery and filtering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Category and catalog management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Cart and </a:t>
            </a:r>
            <a:r>
              <a:rPr sz="1400" dirty="0" err="1"/>
              <a:t>wishlist</a:t>
            </a:r>
            <a:endParaRPr sz="1400" dirty="0"/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Google authentication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REST APIs and database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Secure admin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46180" y="6264753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868680" y="484632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02 / TECHNOLOGY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 USED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A layered architecture separates the frontend, backend services, persistence and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10241280" cy="731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Times New Roma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11095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React</a:t>
            </a:r>
            <a:r>
              <a:rPr lang="en-IN" sz="1400" b="1" dirty="0">
                <a:solidFill>
                  <a:srgbClr val="FFFFFF"/>
                </a:solidFill>
                <a:latin typeface="Times New Roman"/>
              </a:rPr>
              <a:t>.</a:t>
            </a:r>
            <a:r>
              <a:rPr lang="en-IN" sz="1400" b="1" dirty="0" err="1">
                <a:solidFill>
                  <a:srgbClr val="FFFFFF"/>
                </a:solidFill>
                <a:latin typeface="Times New Roman"/>
              </a:rPr>
              <a:t>js</a:t>
            </a:r>
            <a:endParaRPr sz="14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194767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4BECF"/>
                </a:solidFill>
                <a:latin typeface="Times New Roman"/>
              </a:rPr>
              <a:t>Responsive UI • product discovery • shopping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24912"/>
            <a:ext cx="10241280" cy="731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88720" y="293522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52928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Spring Boot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950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4BECF"/>
                </a:solidFill>
                <a:latin typeface="Times New Roman"/>
              </a:rPr>
              <a:t>REST controllers • business services •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66744"/>
            <a:ext cx="10241280" cy="731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Times New Roman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9475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Spring Data JPA / Hibernate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31335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4BECF"/>
                </a:solidFill>
                <a:latin typeface="Times New Roman"/>
              </a:rPr>
              <a:t>ORM • repositories • transactions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08576"/>
            <a:ext cx="10241280" cy="731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1188720" y="48188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76"/>
                </a:solidFill>
                <a:latin typeface="Times New Roman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3659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MySQL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77316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B4BECF"/>
                </a:solidFill>
                <a:latin typeface="Times New Roman"/>
              </a:rPr>
              <a:t>megavault_db</a:t>
            </a:r>
            <a:r>
              <a:rPr sz="1400" b="1" dirty="0">
                <a:solidFill>
                  <a:srgbClr val="B4BECF"/>
                </a:solidFill>
                <a:latin typeface="Times New Roman"/>
              </a:rPr>
              <a:t> • relational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27679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9299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03 /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The home experience is designed to guide customers from browsing to product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3716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750"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744468"/>
            <a:ext cx="6446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200"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4119372"/>
            <a:ext cx="6446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850" b="0" dirty="0">
              <a:solidFill>
                <a:srgbClr val="B4BECF"/>
              </a:solidFill>
              <a:latin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45940" y="1838632"/>
            <a:ext cx="3657600" cy="3593592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7316"/>
                </a:solidFill>
                <a:latin typeface="Times New Roman"/>
              </a:rPr>
              <a:t>KEY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97480"/>
            <a:ext cx="283464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>
                <a:solidFill>
                  <a:schemeClr val="bg1"/>
                </a:solidFill>
              </a:rPr>
              <a:t>• Featured products and categories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>
                <a:solidFill>
                  <a:schemeClr val="bg1"/>
                </a:solidFill>
              </a:rPr>
              <a:t>• Search-first navigation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>
                <a:solidFill>
                  <a:schemeClr val="bg1"/>
                </a:solidFill>
              </a:rPr>
              <a:t>• Product cards with price and ratings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>
                <a:solidFill>
                  <a:schemeClr val="bg1"/>
                </a:solidFill>
              </a:rPr>
              <a:t>• Responsive layout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>
                <a:solidFill>
                  <a:schemeClr val="bg1"/>
                </a:solidFill>
              </a:rPr>
              <a:t>• Clear path to product details and 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4572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750" b="1" dirty="0">
              <a:solidFill>
                <a:srgbClr val="B4BECF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24260" y="630757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1A0A9A-0B89-6F67-123C-588BB7425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0" y="2027006"/>
            <a:ext cx="7215659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807720" y="501131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04 / PRODUCT 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SEARCH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Customers can narrow the catalog using keywords, categories and precise price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264" y="1966453"/>
            <a:ext cx="3482586" cy="304800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1036320" y="230272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7316"/>
                </a:solidFill>
                <a:latin typeface="Times New Roman"/>
              </a:rPr>
              <a:t>EXAMPLE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Times New Roman"/>
              </a:rPr>
              <a:t>Products under ₹10,000</a:t>
            </a:r>
            <a:endParaRPr sz="14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4880" y="3119457"/>
            <a:ext cx="306324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Multi-token product search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Category keyword detection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Price ceiling extraction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Relevant search results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Faster product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720" y="628014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A7755F-4F33-48FD-8924-74B9A686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695" y="1759719"/>
            <a:ext cx="7298789" cy="3923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530" y="523155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97316"/>
                </a:solidFill>
                <a:latin typeface="Times New Roman"/>
              </a:rPr>
              <a:t>05 / CA</a:t>
            </a:r>
            <a:r>
              <a:rPr lang="en-IN" sz="1600" b="1" dirty="0">
                <a:solidFill>
                  <a:srgbClr val="F97316"/>
                </a:solidFill>
                <a:latin typeface="Times New Roman"/>
              </a:rPr>
              <a:t>TEGORY MANAGEMENT</a:t>
            </a:r>
            <a:endParaRPr sz="1600"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6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Categories organize the product catalog and support structured browsing and administration.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084439"/>
            <a:ext cx="3657600" cy="3106994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49419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9E0B"/>
                </a:solidFill>
                <a:latin typeface="Times New Roman"/>
              </a:rPr>
              <a:t>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5210" y="2839886"/>
            <a:ext cx="274320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Audio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Wearables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Gaming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Electronics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Fashion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Smart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0764" y="630757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668A48-FD8A-7155-5EE0-361C70DBE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30" y="3746427"/>
            <a:ext cx="2174397" cy="25611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222002-1E0F-E908-4C52-B45B034D0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38" y="1828276"/>
            <a:ext cx="6242572" cy="1788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9299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06 / SHOPPING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 CART &amp; WISHLIST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Customers can save products for later and manage selected items before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3657600" cy="4160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EA5E9"/>
                </a:solidFill>
                <a:latin typeface="Times New Roman"/>
              </a:rPr>
              <a:t>CUSTOMER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2095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Add product to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75111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Save products to </a:t>
            </a:r>
            <a:r>
              <a:rPr sz="1400" b="1" dirty="0" err="1">
                <a:solidFill>
                  <a:srgbClr val="FFFFFF"/>
                </a:solidFill>
                <a:latin typeface="Times New Roman"/>
              </a:rPr>
              <a:t>wishlist</a:t>
            </a:r>
            <a:endParaRPr sz="14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93221" y="384410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Update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221" y="439826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Review total 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9120" y="4970653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Continue to 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6715" y="636648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696985-CE82-AA23-8D50-F7169744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1" y="2049726"/>
            <a:ext cx="6874801" cy="3509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5231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07 / 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GOOGLE </a:t>
            </a:r>
            <a:r>
              <a:rPr b="1" dirty="0">
                <a:solidFill>
                  <a:srgbClr val="F97316"/>
                </a:solidFill>
                <a:latin typeface="Times New Roman"/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Google-based authentication provides a familiar sign-in experience while maintaining application role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828800"/>
            <a:ext cx="4434840" cy="4160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2148840"/>
            <a:ext cx="2638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EA5E9"/>
                </a:solidFill>
                <a:latin typeface="Times New Roman"/>
              </a:rPr>
              <a:t>AUTHENTICATION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97480"/>
            <a:ext cx="347472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User chooses Google sign-in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Google account identity is verified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Application establishes authenticated session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Customer access is separated from administrative roles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Protected resources remain authorization-controlled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4260" y="639901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EFA1F0-E7A5-59D0-C18E-4EF1499A8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1838582"/>
            <a:ext cx="2863997" cy="38927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476781-E445-70BF-CFC3-295B44B63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602" y="2148840"/>
            <a:ext cx="3428972" cy="3295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886968" y="467895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Times New Roman"/>
              </a:rPr>
              <a:t>08 / BACKEND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/>
              </a:rPr>
              <a:t> REST API &amp; Database</a:t>
            </a:r>
          </a:p>
          <a:p>
            <a:pPr algn="l"/>
            <a:endParaRPr b="1" dirty="0">
              <a:solidFill>
                <a:schemeClr val="accent6">
                  <a:lumMod val="75000"/>
                </a:schemeClr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REST services connect the React frontend with business logic and persistent MySQL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623560" cy="41605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Times New Roman"/>
              </a:rPr>
              <a:t>CORE REST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76"/>
                </a:solidFill>
                <a:latin typeface="Times New Roman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5176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/api/products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651760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CF"/>
                </a:solidFill>
                <a:latin typeface="Times New Roman"/>
              </a:rPr>
              <a:t>Full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76"/>
                </a:solidFill>
                <a:latin typeface="Times New Roman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1868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/api/products/category/{cat}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218688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4BECF"/>
                </a:solidFill>
                <a:latin typeface="Times New Roman"/>
              </a:rPr>
              <a:t>Category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85615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76"/>
                </a:solidFill>
                <a:latin typeface="Times New Roman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85615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/api/products/search?q={query}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8561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CF"/>
                </a:solidFill>
                <a:latin typeface="Times New Roman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9E0B"/>
                </a:solidFill>
                <a:latin typeface="Times New Roman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52544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/api/products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352544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CF"/>
                </a:solidFill>
                <a:latin typeface="Times New Roman"/>
              </a:rPr>
              <a:t>Create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963180"/>
            <a:ext cx="95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EA580C"/>
                </a:solidFill>
                <a:latin typeface="Times New Roman"/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919472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/</a:t>
            </a:r>
            <a:r>
              <a:rPr sz="1400" b="1" dirty="0" err="1">
                <a:solidFill>
                  <a:srgbClr val="FFFFFF"/>
                </a:solidFill>
                <a:latin typeface="Times New Roman"/>
              </a:rPr>
              <a:t>api</a:t>
            </a:r>
            <a:r>
              <a:rPr sz="1400" b="1" dirty="0">
                <a:solidFill>
                  <a:srgbClr val="FFFFFF"/>
                </a:solidFill>
                <a:latin typeface="Times New Roman"/>
              </a:rPr>
              <a:t>/products/{id}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919472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ECF"/>
                </a:solidFill>
                <a:latin typeface="Times New Roman"/>
              </a:rPr>
              <a:t>Delete +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828800"/>
            <a:ext cx="4937760" cy="3246120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6858000" y="21488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9E0B"/>
                </a:solidFill>
                <a:latin typeface="Times New Roman"/>
              </a:rPr>
              <a:t>DATABASE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697480"/>
            <a:ext cx="3977639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USERS — accounts, roles and verification state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PRODUCTS — SKU, title, price, rating, category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CATEGORIES — six product departments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ORDERS — customer, total, status and timestamps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4260" y="630757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55042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09 / ADMIN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 DASHBOARD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6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Administrative tools provide controlled product management and system-wide visibility.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93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850" b="0" dirty="0">
              <a:solidFill>
                <a:srgbClr val="B4BECF"/>
              </a:solidFill>
              <a:latin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703320" cy="3392129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1488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7316"/>
                </a:solidFill>
                <a:latin typeface="Times New Roman"/>
              </a:rPr>
              <a:t>ADMIN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97480"/>
            <a:ext cx="288036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Manage products </a:t>
            </a:r>
            <a:r>
              <a:rPr lang="en-IN" sz="1400" dirty="0"/>
              <a:t>and categories</a:t>
            </a:r>
            <a:endParaRPr sz="1400" dirty="0"/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Review catalog information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Control access according to role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Perform administrative operations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Track important catalog changes</a:t>
            </a:r>
          </a:p>
          <a:p>
            <a:pPr>
              <a:spcAft>
                <a:spcPts val="700"/>
              </a:spcAft>
              <a:defRPr sz="117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Support category-level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28014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10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219ABA-9E4F-4780-D3B4-74013431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5" y="2064774"/>
            <a:ext cx="7407430" cy="33921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10278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10 / PROJECT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 SCREENSHOTS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75837" y="609547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11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8BCDC5D-1AEA-28C2-0B28-6E081E0B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89" y="1018229"/>
            <a:ext cx="6182779" cy="30592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06EFCF-14D6-49D3-9611-5208D334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59" y="1031284"/>
            <a:ext cx="4534078" cy="33170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0F6BCE9-E973-BB09-C73C-03094864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77" y="4343799"/>
            <a:ext cx="3200564" cy="21210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93AA230-43C4-BC15-D782-DE15BB4C8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512" y="4260541"/>
            <a:ext cx="3079276" cy="25127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B0E914E-57CC-84B6-AEE5-BAA48B57A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802" y="4434744"/>
            <a:ext cx="3721035" cy="2164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84048"/>
            <a:ext cx="54864" cy="68580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685800" y="384048"/>
            <a:ext cx="22860" cy="685800"/>
          </a:xfrm>
          <a:prstGeom prst="round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822960" y="534601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97316"/>
                </a:solidFill>
                <a:latin typeface="Times New Roman"/>
              </a:rPr>
              <a:t>11 / OUTCOME</a:t>
            </a:r>
            <a:r>
              <a:rPr lang="en-IN" b="1" dirty="0">
                <a:solidFill>
                  <a:srgbClr val="F97316"/>
                </a:solidFill>
                <a:latin typeface="Times New Roman"/>
              </a:rPr>
              <a:t>S</a:t>
            </a:r>
            <a:endParaRPr b="1" dirty="0">
              <a:solidFill>
                <a:srgbClr val="F97316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Times New Roman"/>
              </a:rPr>
              <a:t>The current implementation establishes a strong foundation for a scalable e-commerce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1952243"/>
            <a:ext cx="4219956" cy="3730752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1737360" y="222835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C576"/>
                </a:solidFill>
                <a:latin typeface="Times New Roman"/>
              </a:rPr>
              <a:t>KEY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0640" y="2812234"/>
            <a:ext cx="429768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Responsive React shopping experience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Spring Boot REST backend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Product search and precision filtering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Google authentication integration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Role-based access control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Product deletion audit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9761" y="1952244"/>
            <a:ext cx="4389120" cy="3730752"/>
          </a:xfrm>
          <a:prstGeom prst="roundRect">
            <a:avLst/>
          </a:prstGeom>
          <a:solidFill>
            <a:srgbClr val="17202D"/>
          </a:solidFill>
          <a:ln w="10160">
            <a:solidFill>
              <a:srgbClr val="36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6590562" y="223375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7316"/>
                </a:solidFill>
                <a:latin typeface="Times New Roman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2812234"/>
            <a:ext cx="438912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Payment gateway integration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Order tracking and notifications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Personalized recommendation engine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Analytics and reporting dashboard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Cloud deployment and auto-scaling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Times New Roman"/>
              </a:defRPr>
            </a:pPr>
            <a:r>
              <a:rPr sz="1400" dirty="0"/>
              <a:t>• Automated testing and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5541" y="6276796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34840" y="2560320"/>
            <a:ext cx="6583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Times New Roman"/>
              </a:rPr>
              <a:t>Thank </a:t>
            </a:r>
            <a:br>
              <a:rPr lang="en-IN" sz="5400" b="1" dirty="0">
                <a:solidFill>
                  <a:srgbClr val="FFFFFF"/>
                </a:solidFill>
                <a:latin typeface="Times New Roman"/>
              </a:rPr>
            </a:br>
            <a:r>
              <a:rPr sz="5400" b="1" dirty="0">
                <a:solidFill>
                  <a:srgbClr val="FFFFFF"/>
                </a:solidFill>
                <a:latin typeface="Times New Roman"/>
              </a:rPr>
              <a:t>You</a:t>
            </a:r>
            <a:r>
              <a:rPr lang="en-IN" sz="5400" b="1" dirty="0">
                <a:solidFill>
                  <a:srgbClr val="FFFFFF"/>
                </a:solidFill>
                <a:latin typeface="Times New Roman"/>
              </a:rPr>
              <a:t> (●’◡’●)</a:t>
            </a:r>
            <a:endParaRPr sz="54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18520" y="6280142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dirty="0">
                <a:solidFill>
                  <a:srgbClr val="F97316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697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Nalajala</dc:creator>
  <cp:keywords/>
  <dc:description>generated using python-pptx</dc:description>
  <cp:lastModifiedBy>Sai Nalajala</cp:lastModifiedBy>
  <cp:revision>2</cp:revision>
  <dcterms:created xsi:type="dcterms:W3CDTF">2013-01-27T09:14:16Z</dcterms:created>
  <dcterms:modified xsi:type="dcterms:W3CDTF">2026-08-13T06:08:38Z</dcterms:modified>
  <cp:category/>
</cp:coreProperties>
</file>